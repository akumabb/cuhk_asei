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11"/>
  </p:notesMasterIdLst>
  <p:sldIdLst>
    <p:sldId id="745" r:id="rId2"/>
    <p:sldId id="660" r:id="rId3"/>
    <p:sldId id="661" r:id="rId4"/>
    <p:sldId id="793" r:id="rId5"/>
    <p:sldId id="794" r:id="rId6"/>
    <p:sldId id="795" r:id="rId7"/>
    <p:sldId id="732" r:id="rId8"/>
    <p:sldId id="733" r:id="rId9"/>
    <p:sldId id="709" r:id="rId1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B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76519" autoAdjust="0"/>
  </p:normalViewPr>
  <p:slideViewPr>
    <p:cSldViewPr snapToGrid="0">
      <p:cViewPr varScale="1">
        <p:scale>
          <a:sx n="88" d="100"/>
          <a:sy n="88" d="100"/>
        </p:scale>
        <p:origin x="148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7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1" d="100"/>
        <a:sy n="6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3FE29AAC-BF1A-7E43-8EDC-8952E4395FE3}"/>
    <pc:docChg chg="modSld">
      <pc:chgData name="Prof. Shuguang Cui (SSE)" userId="85de1bb4-a53e-4ccf-9dc2-65b85f685fb4" providerId="ADAL" clId="{3FE29AAC-BF1A-7E43-8EDC-8952E4395FE3}" dt="2024-12-05T10:46:59.147" v="1" actId="20577"/>
      <pc:docMkLst>
        <pc:docMk/>
      </pc:docMkLst>
      <pc:sldChg chg="modSp mod">
        <pc:chgData name="Prof. Shuguang Cui (SSE)" userId="85de1bb4-a53e-4ccf-9dc2-65b85f685fb4" providerId="ADAL" clId="{3FE29AAC-BF1A-7E43-8EDC-8952E4395FE3}" dt="2024-12-05T10:46:59.147" v="1" actId="20577"/>
        <pc:sldMkLst>
          <pc:docMk/>
          <pc:sldMk cId="1626760008" sldId="745"/>
        </pc:sldMkLst>
        <pc:spChg chg="mod">
          <ac:chgData name="Prof. Shuguang Cui (SSE)" userId="85de1bb4-a53e-4ccf-9dc2-65b85f685fb4" providerId="ADAL" clId="{3FE29AAC-BF1A-7E43-8EDC-8952E4395FE3}" dt="2024-12-05T10:46:59.147" v="1" actId="20577"/>
          <ac:spMkLst>
            <pc:docMk/>
            <pc:sldMk cId="1626760008" sldId="745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pPr/>
              <a:t>2024/12/5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144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F58F41-4349-42B5-8BE0-1803F26E2C63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107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24A105-1247-4832-8B14-947EEDABC38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560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871206-2C7D-4536-AF6F-F68C972E0CA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38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939BD7-2810-48F7-9F9E-513D77FBC92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245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DF0BB9-DB22-4EDC-B08F-C242AB4053BF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00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9176" indent="-295837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3348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6687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0026" indent="-23667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336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6705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0044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3383" indent="-23667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42216C-F2CC-4AF8-8519-4618EA494BE6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9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56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301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71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75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16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4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80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2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12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4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2016/12/05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79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2016/12/05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006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</a:t>
            </a:r>
          </a:p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vs. Laplace Transform</a:t>
            </a:r>
          </a:p>
        </p:txBody>
      </p:sp>
    </p:spTree>
    <p:extLst>
      <p:ext uri="{BB962C8B-B14F-4D97-AF65-F5344CB8AC3E}">
        <p14:creationId xmlns:p14="http://schemas.microsoft.com/office/powerpoint/2010/main" val="162676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Fourier transform pair: 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400" dirty="0"/>
              <a:t>The Fourier transform is an integral transform of </a:t>
            </a:r>
            <a:r>
              <a:rPr lang="en-US" altLang="en-US" sz="2400" i="1" dirty="0"/>
              <a:t>f(t)</a:t>
            </a:r>
            <a:r>
              <a:rPr lang="en-US" altLang="en-US" sz="2400" dirty="0"/>
              <a:t> from the time domain to the frequency domain.</a:t>
            </a:r>
          </a:p>
          <a:p>
            <a:endParaRPr lang="en-US" altLang="en-US" sz="3600" dirty="0"/>
          </a:p>
          <a:p>
            <a:r>
              <a:rPr lang="en-US" altLang="en-US" sz="2400" dirty="0"/>
              <a:t>In general, </a:t>
            </a:r>
            <a:r>
              <a:rPr lang="en-US" altLang="en-US" sz="2400" i="1" u="sng" dirty="0"/>
              <a:t>F(</a:t>
            </a:r>
            <a:r>
              <a:rPr lang="el-GR" altLang="en-US" sz="2400" i="1" u="sng" dirty="0"/>
              <a:t>ω</a:t>
            </a:r>
            <a:r>
              <a:rPr lang="en-US" altLang="en-US" sz="2400" i="1" u="sng" dirty="0"/>
              <a:t>)</a:t>
            </a:r>
            <a:r>
              <a:rPr lang="en-US" altLang="en-US" sz="2400" u="sng" dirty="0"/>
              <a:t> is a complex function</a:t>
            </a:r>
            <a:r>
              <a:rPr lang="en-US" altLang="en-US" sz="2400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Its magnitude is called the amplitude spectrum. The phase is called the phase spectrum.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I</a:t>
            </a:r>
            <a:r>
              <a:rPr lang="en-US" altLang="en-US" sz="2400" dirty="0"/>
              <a:t>nverse Fourier transform:</a:t>
            </a:r>
          </a:p>
          <a:p>
            <a:endParaRPr lang="en-US" altLang="en-US" sz="2400" i="1" dirty="0"/>
          </a:p>
          <a:p>
            <a:endParaRPr lang="en-US" altLang="en-US" i="1" dirty="0"/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722260"/>
              </p:ext>
            </p:extLst>
          </p:nvPr>
        </p:nvGraphicFramePr>
        <p:xfrm>
          <a:off x="6393794" y="732157"/>
          <a:ext cx="2503594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6698" imgH="253890" progId="Equation.DSMT4">
                  <p:embed/>
                </p:oleObj>
              </mc:Choice>
              <mc:Fallback>
                <p:oleObj name="Equation" r:id="rId3" imgW="926698" imgH="25389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794" y="732157"/>
                        <a:ext cx="2503594" cy="68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54492" y="2423897"/>
                <a:ext cx="4683013" cy="796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492" y="2423897"/>
                <a:ext cx="4683013" cy="7968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329984" y="5071425"/>
                <a:ext cx="5532027" cy="796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984" y="5071425"/>
                <a:ext cx="5532027" cy="7968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Conditions on F(</a:t>
            </a:r>
            <a:r>
              <a:rPr lang="el-GR" altLang="en-US"/>
              <a:t>ω</a:t>
            </a:r>
            <a:r>
              <a:rPr lang="en-US" altLang="en-US"/>
              <a:t>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The Fourier transform does not exist for all functions.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It only exists where the Fourier integral converges.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Again, a sufficient, but not necessary condition is: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altLang="en-US" sz="24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altLang="en-US" sz="24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An example of a function that would fail this test is the unit ramp function.</a:t>
            </a:r>
          </a:p>
        </p:txBody>
      </p:sp>
      <p:graphicFrame>
        <p:nvGraphicFramePr>
          <p:cNvPr id="184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806137"/>
              </p:ext>
            </p:extLst>
          </p:nvPr>
        </p:nvGraphicFramePr>
        <p:xfrm>
          <a:off x="4986478" y="3091665"/>
          <a:ext cx="2219041" cy="112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100" imgH="469900" progId="Equation.DSMT4">
                  <p:embed/>
                </p:oleObj>
              </mc:Choice>
              <mc:Fallback>
                <p:oleObj name="Equation" r:id="rId3" imgW="927100" imgH="469900" progId="Equation.DSMT4">
                  <p:embed/>
                  <p:pic>
                    <p:nvPicPr>
                      <p:cNvPr id="1843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478" y="3091665"/>
                        <a:ext cx="2219041" cy="11244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966744" y="5011862"/>
                <a:ext cx="62585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400" b="0" dirty="0">
                    <a:ea typeface="Cambria Math" panose="02040503050406030204" pitchFamily="18" charset="0"/>
                  </a:rPr>
                  <a:t>Fourier transform for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𝑡𝑢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does not exist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744" y="5011862"/>
                <a:ext cx="6258508" cy="369332"/>
              </a:xfrm>
              <a:prstGeom prst="rect">
                <a:avLst/>
              </a:prstGeom>
              <a:blipFill>
                <a:blip r:embed="rId6"/>
                <a:stretch>
                  <a:fillRect l="-3021" t="-24590" r="-2047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76819" y="5563499"/>
                <a:ext cx="46952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ea typeface="Cambria Math" panose="02040503050406030204" pitchFamily="18" charset="0"/>
                  </a:rPr>
                  <a:t>Also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819" y="5563499"/>
                <a:ext cx="4695260" cy="461665"/>
              </a:xfrm>
              <a:prstGeom prst="rect">
                <a:avLst/>
              </a:prstGeom>
              <a:blipFill>
                <a:blip r:embed="rId7"/>
                <a:stretch>
                  <a:fillRect l="-1948" t="-10667" r="-260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77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Fourier vs. Laplace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altLang="en-US" sz="2400" dirty="0"/>
              <a:t>The Laplace transform we have discussed in last week is </a:t>
            </a:r>
            <a:r>
              <a:rPr lang="en-US" altLang="en-US" sz="2400" i="1" dirty="0">
                <a:solidFill>
                  <a:srgbClr val="FF0000"/>
                </a:solidFill>
              </a:rPr>
              <a:t>one-sided integral</a:t>
            </a:r>
            <a:r>
              <a:rPr lang="en-US" altLang="en-US" sz="2400" i="1" dirty="0"/>
              <a:t>,</a:t>
            </a:r>
            <a:r>
              <a:rPr lang="en-US" altLang="en-US" sz="2400" dirty="0"/>
              <a:t> in which the integral is over </a:t>
            </a:r>
            <a:r>
              <a:rPr lang="en-US" altLang="en-US" sz="2400" i="1" dirty="0"/>
              <a:t>0&lt;t&lt;</a:t>
            </a:r>
            <a:r>
              <a:rPr lang="en-US" altLang="en-US" sz="2400" i="1" dirty="0">
                <a:sym typeface="Symbol" panose="05050102010706020507" pitchFamily="18" charset="2"/>
              </a:rPr>
              <a:t> , </a:t>
            </a:r>
            <a:r>
              <a:rPr lang="en-US" altLang="en-US" sz="2400" dirty="0"/>
              <a:t>making it only useful for positive time functions, </a:t>
            </a:r>
            <a:r>
              <a:rPr lang="en-US" altLang="en-US" sz="2400" i="1" dirty="0"/>
              <a:t>f </a:t>
            </a:r>
            <a:r>
              <a:rPr lang="en-US" altLang="en-US" sz="2400" dirty="0"/>
              <a:t>(</a:t>
            </a:r>
            <a:r>
              <a:rPr lang="en-US" altLang="en-US" sz="2400" i="1" dirty="0"/>
              <a:t>t</a:t>
            </a:r>
            <a:r>
              <a:rPr lang="en-US" altLang="en-US" sz="2400" dirty="0"/>
              <a:t>)</a:t>
            </a:r>
            <a:r>
              <a:rPr lang="en-US" altLang="en-US" sz="2400" i="1" dirty="0"/>
              <a:t>, t&gt;0</a:t>
            </a:r>
            <a:r>
              <a:rPr lang="en-US" altLang="en-US" sz="2400" dirty="0"/>
              <a:t>;</a:t>
            </a:r>
            <a:r>
              <a:rPr lang="en-US" altLang="en-US" sz="2400" i="1" dirty="0"/>
              <a:t> </a:t>
            </a:r>
            <a:r>
              <a:rPr lang="en-US" altLang="en-US" sz="2400" dirty="0"/>
              <a:t>The Fourier transform is applicable to</a:t>
            </a:r>
            <a:r>
              <a:rPr lang="en-US" altLang="en-US" sz="2400" i="1" dirty="0"/>
              <a:t> </a:t>
            </a:r>
            <a:r>
              <a:rPr lang="en-US" altLang="en-US" sz="2400" dirty="0"/>
              <a:t>functions defined for all time -</a:t>
            </a:r>
            <a:r>
              <a:rPr lang="en-US" altLang="en-US" i="1" dirty="0">
                <a:sym typeface="Symbol" panose="05050102010706020507" pitchFamily="18" charset="2"/>
              </a:rPr>
              <a:t> </a:t>
            </a:r>
            <a:r>
              <a:rPr lang="en-US" altLang="en-US" i="1" dirty="0"/>
              <a:t>&lt;t&lt;</a:t>
            </a:r>
            <a:r>
              <a:rPr lang="en-US" altLang="en-US" i="1" dirty="0">
                <a:sym typeface="Symbol" panose="05050102010706020507" pitchFamily="18" charset="2"/>
              </a:rPr>
              <a:t></a:t>
            </a:r>
            <a:r>
              <a:rPr lang="en-US" altLang="en-US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altLang="en-US" sz="2400" dirty="0"/>
          </a:p>
          <a:p>
            <a:pPr marL="514350" indent="-51435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2"/>
            </a:pPr>
            <a:r>
              <a:rPr lang="en-US" altLang="en-US" dirty="0"/>
              <a:t>The Laplace transform is applicable to a wider range of functions than the Fourier transform. </a:t>
            </a:r>
          </a:p>
          <a:p>
            <a:pPr marL="0" indent="0" algn="just">
              <a:buNone/>
            </a:pPr>
            <a:endParaRPr lang="en-US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165559" y="4582941"/>
                <a:ext cx="19162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𝑡𝑢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559" y="4582941"/>
                <a:ext cx="1916294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084484" y="5272595"/>
                <a:ext cx="2153859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484" y="5272595"/>
                <a:ext cx="2153859" cy="1200329"/>
              </a:xfrm>
              <a:prstGeom prst="rect">
                <a:avLst/>
              </a:prstGeom>
              <a:blipFill>
                <a:blip r:embed="rId4"/>
                <a:stretch>
                  <a:fillRect b="-6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04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Fourier vs. Laplace II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47819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GB" altLang="en-US" dirty="0"/>
                  <a:t>For </a:t>
                </a:r>
                <a:r>
                  <a:rPr lang="en-GB" altLang="en-US" b="1" dirty="0"/>
                  <a:t>a function </a:t>
                </a:r>
                <a:r>
                  <a:rPr lang="en-US" altLang="en-US" b="1" i="1" dirty="0"/>
                  <a:t>f </a:t>
                </a:r>
                <a:r>
                  <a:rPr lang="en-US" altLang="en-US" b="1" dirty="0"/>
                  <a:t>(</a:t>
                </a:r>
                <a:r>
                  <a:rPr lang="en-US" altLang="en-US" b="1" i="1" dirty="0"/>
                  <a:t>t</a:t>
                </a:r>
                <a:r>
                  <a:rPr lang="en-US" altLang="en-US" b="1" dirty="0"/>
                  <a:t>)</a:t>
                </a:r>
                <a:r>
                  <a:rPr lang="en-US" altLang="en-US" b="1" i="1" dirty="0"/>
                  <a:t> </a:t>
                </a:r>
                <a:r>
                  <a:rPr lang="en-GB" altLang="en-US" b="1" dirty="0"/>
                  <a:t>that is nonzero for positive time only</a:t>
                </a:r>
                <a:r>
                  <a:rPr lang="en-GB" altLang="en-US" dirty="0"/>
                  <a:t>, (i.e.</a:t>
                </a:r>
                <a:r>
                  <a:rPr lang="en-US" altLang="en-US" i="1" dirty="0"/>
                  <a:t> f </a:t>
                </a:r>
                <a:r>
                  <a:rPr lang="en-US" altLang="en-US" dirty="0"/>
                  <a:t>(</a:t>
                </a:r>
                <a:r>
                  <a:rPr lang="en-US" altLang="en-US" i="1" dirty="0"/>
                  <a:t>t</a:t>
                </a:r>
                <a:r>
                  <a:rPr lang="en-US" altLang="en-US" dirty="0"/>
                  <a:t>)=0, for t&lt;0) and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GB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alt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en-GB" altLang="en-US" b="1" dirty="0"/>
                  <a:t> finite</a:t>
                </a:r>
                <a:r>
                  <a:rPr lang="en-GB" altLang="en-US" dirty="0"/>
                  <a:t>, the two transforms are related by:</a:t>
                </a:r>
              </a:p>
              <a:p>
                <a:pPr marL="0" indent="0" algn="just">
                  <a:buNone/>
                </a:pPr>
                <a:endParaRPr lang="en-GB" altLang="en-US" dirty="0"/>
              </a:p>
              <a:p>
                <a:pPr marL="0" indent="0" algn="just">
                  <a:buNone/>
                </a:pPr>
                <a:endParaRPr lang="en-GB" altLang="en-US" dirty="0"/>
              </a:p>
              <a:p>
                <a:pPr lvl="1" algn="just"/>
                <a:r>
                  <a:rPr lang="en-GB" altLang="en-US" dirty="0"/>
                  <a:t>This equation also shows that the Fourier transform can be regarded as a special case of the Laplace transform with </a:t>
                </a:r>
                <a:r>
                  <a:rPr lang="en-GB" altLang="en-US" i="1" dirty="0"/>
                  <a:t>s</a:t>
                </a:r>
                <a:r>
                  <a:rPr lang="en-GB" altLang="en-US" dirty="0"/>
                  <a:t>= </a:t>
                </a:r>
                <a:r>
                  <a:rPr lang="en-GB" altLang="en-US" i="1" dirty="0" err="1"/>
                  <a:t>jω</a:t>
                </a:r>
                <a:r>
                  <a:rPr lang="en-GB" altLang="en-US" dirty="0"/>
                  <a:t>.</a:t>
                </a:r>
                <a:endParaRPr lang="en-US" altLang="en-US" dirty="0"/>
              </a:p>
              <a:p>
                <a:pPr lvl="1" algn="just">
                  <a:spcBef>
                    <a:spcPts val="1200"/>
                  </a:spcBef>
                </a:pPr>
                <a:r>
                  <a:rPr lang="en-US" altLang="en-US" dirty="0"/>
                  <a:t>Recall that </a:t>
                </a:r>
                <a:r>
                  <a:rPr lang="en-US" altLang="en-US" i="1" dirty="0"/>
                  <a:t>s=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+</a:t>
                </a:r>
                <a:r>
                  <a:rPr lang="en-US" altLang="en-US" i="1" dirty="0"/>
                  <a:t>j</a:t>
                </a:r>
                <a:r>
                  <a:rPr lang="el-GR" altLang="en-US" i="1" dirty="0"/>
                  <a:t>ω</a:t>
                </a:r>
                <a:r>
                  <a:rPr lang="en-US" altLang="en-US" i="1" dirty="0"/>
                  <a:t> </a:t>
                </a:r>
                <a:r>
                  <a:rPr lang="en-US" altLang="en-US" dirty="0"/>
                  <a:t>Therefore, this equation shows that the Laplace transform is related to the entire </a:t>
                </a:r>
                <a:r>
                  <a:rPr lang="en-US" altLang="en-US" i="1" dirty="0"/>
                  <a:t>s </a:t>
                </a:r>
                <a:r>
                  <a:rPr lang="en-US" altLang="en-US" dirty="0"/>
                  <a:t>plane, whereas the Fourier transform is restricted to the </a:t>
                </a:r>
                <a:r>
                  <a:rPr lang="en-US" altLang="en-US" i="1" dirty="0"/>
                  <a:t>j</a:t>
                </a:r>
                <a:r>
                  <a:rPr lang="el-GR" altLang="en-US" i="1" dirty="0"/>
                  <a:t>ω</a:t>
                </a:r>
                <a:r>
                  <a:rPr lang="en-US" altLang="en-US" dirty="0"/>
                  <a:t> axis.</a:t>
                </a:r>
                <a:endParaRPr lang="en-GB" altLang="en-US" dirty="0"/>
              </a:p>
              <a:p>
                <a:pPr lvl="1" algn="just">
                  <a:spcBef>
                    <a:spcPts val="1200"/>
                  </a:spcBef>
                </a:pPr>
                <a:r>
                  <a:rPr lang="en-US" dirty="0"/>
                  <a:t>If all the </a:t>
                </a:r>
                <a:r>
                  <a:rPr lang="en-US" u="sng" dirty="0"/>
                  <a:t>poles of </a:t>
                </a:r>
                <a:r>
                  <a:rPr lang="en-US" i="1" u="sng" dirty="0"/>
                  <a:t>F</a:t>
                </a:r>
                <a:r>
                  <a:rPr lang="en-US" u="sng" dirty="0"/>
                  <a:t>(</a:t>
                </a:r>
                <a:r>
                  <a:rPr lang="en-US" i="1" u="sng" dirty="0"/>
                  <a:t>s</a:t>
                </a:r>
                <a:r>
                  <a:rPr lang="en-US" u="sng" dirty="0"/>
                  <a:t>) lie in the left-hand side </a:t>
                </a:r>
                <a:r>
                  <a:rPr lang="en-US" dirty="0"/>
                  <a:t>of the complex </a:t>
                </a:r>
                <a:r>
                  <a:rPr lang="en-US" i="1" dirty="0"/>
                  <a:t>s</a:t>
                </a:r>
                <a:r>
                  <a:rPr lang="en-US" dirty="0"/>
                  <a:t> plane, then one can obtain the Fourier transform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l-GR" i="1" dirty="0"/>
                  <a:t>ω</a:t>
                </a:r>
                <a:r>
                  <a:rPr lang="en-US" dirty="0"/>
                  <a:t>) from the corresponding Laplace transform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s</a:t>
                </a:r>
                <a:r>
                  <a:rPr lang="en-US" dirty="0"/>
                  <a:t>) by merely replacing </a:t>
                </a:r>
                <a:r>
                  <a:rPr lang="en-US" i="1" dirty="0"/>
                  <a:t>s</a:t>
                </a:r>
                <a:r>
                  <a:rPr lang="en-US" dirty="0"/>
                  <a:t> by </a:t>
                </a:r>
                <a:r>
                  <a:rPr lang="en-US" i="1" dirty="0"/>
                  <a:t>j</a:t>
                </a:r>
                <a:r>
                  <a:rPr lang="el-GR" i="1" dirty="0"/>
                  <a:t>ω</a:t>
                </a:r>
                <a:r>
                  <a:rPr lang="en-US" dirty="0"/>
                  <a:t>.</a:t>
                </a:r>
              </a:p>
              <a:p>
                <a:pPr lvl="1" algn="just">
                  <a:spcBef>
                    <a:spcPts val="1200"/>
                  </a:spcBef>
                </a:pPr>
                <a:r>
                  <a:rPr lang="en-US" dirty="0"/>
                  <a:t>However, this does not work for functions like </a:t>
                </a:r>
                <a:r>
                  <a:rPr lang="en-US" i="1" dirty="0"/>
                  <a:t>u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or </a:t>
                </a:r>
                <a:r>
                  <a:rPr lang="en-US" i="1" dirty="0"/>
                  <a:t>u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</a:t>
                </a:r>
                <a:r>
                  <a:rPr lang="en-US" dirty="0" err="1"/>
                  <a:t>cos</a:t>
                </a:r>
                <a:r>
                  <a:rPr lang="en-US" i="1" dirty="0" err="1"/>
                  <a:t>at</a:t>
                </a:r>
                <a:r>
                  <a:rPr lang="en-US" dirty="0"/>
                  <a:t>, as their Laplace transforms , 1/</a:t>
                </a:r>
                <a:r>
                  <a:rPr lang="en-US" i="1" dirty="0"/>
                  <a:t>s</a:t>
                </a:r>
                <a:r>
                  <a:rPr lang="en-US" dirty="0"/>
                  <a:t> and </a:t>
                </a:r>
                <a:r>
                  <a:rPr lang="en-US" i="1" dirty="0"/>
                  <a:t>s</a:t>
                </a:r>
                <a:r>
                  <a:rPr lang="en-US" dirty="0"/>
                  <a:t>/(</a:t>
                </a:r>
                <a:r>
                  <a:rPr lang="en-US" i="1" dirty="0"/>
                  <a:t>s</a:t>
                </a:r>
                <a:r>
                  <a:rPr lang="en-US" baseline="30000" dirty="0"/>
                  <a:t>2</a:t>
                </a:r>
                <a:r>
                  <a:rPr lang="en-US" dirty="0"/>
                  <a:t>+</a:t>
                </a:r>
                <a:r>
                  <a:rPr lang="en-US" i="1" dirty="0"/>
                  <a:t>a</a:t>
                </a:r>
                <a:r>
                  <a:rPr lang="en-US" baseline="30000" dirty="0"/>
                  <a:t>2</a:t>
                </a:r>
                <a:r>
                  <a:rPr lang="en-US" dirty="0"/>
                  <a:t>), have poles, </a:t>
                </a:r>
                <a:r>
                  <a:rPr lang="en-US" i="1" dirty="0"/>
                  <a:t>s</a:t>
                </a:r>
                <a:r>
                  <a:rPr lang="en-US" dirty="0"/>
                  <a:t>=0, and </a:t>
                </a:r>
                <a:r>
                  <a:rPr lang="en-US" i="1" dirty="0"/>
                  <a:t>s</a:t>
                </a:r>
                <a:r>
                  <a:rPr lang="en-US" dirty="0"/>
                  <a:t>=±</a:t>
                </a:r>
                <a:r>
                  <a:rPr lang="en-US" i="1" dirty="0"/>
                  <a:t>ja</a:t>
                </a:r>
                <a:r>
                  <a:rPr lang="en-US" dirty="0"/>
                  <a:t>, on the imaginary (</a:t>
                </a:r>
                <a:r>
                  <a:rPr lang="en-US" i="1" dirty="0"/>
                  <a:t>j</a:t>
                </a:r>
                <a:r>
                  <a:rPr lang="el-GR" i="1" dirty="0"/>
                  <a:t>ω</a:t>
                </a:r>
                <a:r>
                  <a:rPr lang="en-US" dirty="0"/>
                  <a:t>) axis.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47819"/>
              </a:xfrm>
              <a:blipFill>
                <a:blip r:embed="rId3"/>
                <a:stretch>
                  <a:fillRect l="-724" t="-8267" r="-84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261189" y="2641471"/>
          <a:ext cx="1933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900" imgH="304800" progId="Equation.DSMT4">
                  <p:embed/>
                </p:oleObj>
              </mc:Choice>
              <mc:Fallback>
                <p:oleObj name="Equation" r:id="rId4" imgW="1104900" imgH="30480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1189" y="2641471"/>
                        <a:ext cx="1933575" cy="5334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909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Fourier vs. </a:t>
            </a:r>
            <a:r>
              <a:rPr lang="en-US" altLang="en-US"/>
              <a:t>Laplace III</a:t>
            </a:r>
            <a:endParaRPr lang="en-US" altLang="en-US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103870" y="1690688"/>
            <a:ext cx="10249930" cy="4388836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1200"/>
              </a:spcBef>
              <a:buFontTx/>
              <a:buAutoNum type="arabicPeriod" startAt="4"/>
            </a:pPr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FF0000"/>
                </a:solidFill>
              </a:rPr>
              <a:t>Laplace transform </a:t>
            </a:r>
            <a:r>
              <a:rPr lang="en-US" altLang="en-US" sz="2400" dirty="0"/>
              <a:t>is better suited for the </a:t>
            </a:r>
            <a:r>
              <a:rPr lang="en-US" altLang="en-US" sz="2400" dirty="0">
                <a:solidFill>
                  <a:srgbClr val="FF0000"/>
                </a:solidFill>
              </a:rPr>
              <a:t>analysis of transient problems involving initial conditions</a:t>
            </a:r>
            <a:r>
              <a:rPr lang="en-US" altLang="en-US" sz="2400" dirty="0"/>
              <a:t>, since it permits the inclusion of the initial conditions, whereas the Fourier transform does not. The </a:t>
            </a:r>
            <a:r>
              <a:rPr lang="en-US" altLang="en-US" sz="2400" dirty="0">
                <a:solidFill>
                  <a:schemeClr val="accent5"/>
                </a:solidFill>
              </a:rPr>
              <a:t>Fourier transform </a:t>
            </a:r>
            <a:r>
              <a:rPr lang="en-US" altLang="en-US" sz="2400" dirty="0"/>
              <a:t>is especially useful for </a:t>
            </a:r>
            <a:r>
              <a:rPr lang="en-US" altLang="en-US" sz="2400" dirty="0">
                <a:solidFill>
                  <a:schemeClr val="accent5"/>
                </a:solidFill>
              </a:rPr>
              <a:t>problems in the steady state</a:t>
            </a:r>
            <a:r>
              <a:rPr lang="en-US" altLang="en-US" sz="2400" dirty="0"/>
              <a:t>.</a:t>
            </a:r>
          </a:p>
          <a:p>
            <a:pPr marL="514350" indent="-514350" algn="just">
              <a:lnSpc>
                <a:spcPct val="100000"/>
              </a:lnSpc>
              <a:spcBef>
                <a:spcPts val="1200"/>
              </a:spcBef>
              <a:buFontTx/>
              <a:buAutoNum type="arabicPeriod" startAt="4"/>
            </a:pPr>
            <a:endParaRPr lang="en-US" altLang="en-US" sz="2400" dirty="0"/>
          </a:p>
          <a:p>
            <a:pPr marL="514350" indent="-514350" algn="just">
              <a:lnSpc>
                <a:spcPct val="100000"/>
              </a:lnSpc>
              <a:spcBef>
                <a:spcPts val="1200"/>
              </a:spcBef>
              <a:buFontTx/>
              <a:buAutoNum type="arabicPeriod" startAt="4"/>
            </a:pPr>
            <a:r>
              <a:rPr lang="en-GB" altLang="en-US" sz="2400" dirty="0"/>
              <a:t>The </a:t>
            </a:r>
            <a:r>
              <a:rPr lang="en-GB" altLang="en-US" sz="2400" dirty="0">
                <a:solidFill>
                  <a:schemeClr val="accent5"/>
                </a:solidFill>
              </a:rPr>
              <a:t>Fourier transform </a:t>
            </a:r>
            <a:r>
              <a:rPr lang="en-GB" altLang="en-US" sz="2400" dirty="0"/>
              <a:t>provides greater insight into the </a:t>
            </a:r>
            <a:r>
              <a:rPr lang="en-GB" altLang="en-US" sz="2400" dirty="0">
                <a:solidFill>
                  <a:schemeClr val="accent5"/>
                </a:solidFill>
              </a:rPr>
              <a:t>frequency characteristics</a:t>
            </a:r>
            <a:r>
              <a:rPr lang="en-GB" altLang="en-US" sz="2400" dirty="0"/>
              <a:t> of signals than the Laplace </a:t>
            </a:r>
            <a:r>
              <a:rPr lang="en-GB" altLang="en-US" dirty="0"/>
              <a:t>transform does.</a:t>
            </a:r>
            <a:endParaRPr lang="en-US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536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92588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Fourier Transform Pairs 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2818" y="1168673"/>
            <a:ext cx="7677692" cy="539295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18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DEEDA2-1325-1E44-B329-FDB84EBA3495}"/>
              </a:ext>
            </a:extLst>
          </p:cNvPr>
          <p:cNvSpPr txBox="1">
            <a:spLocks/>
          </p:cNvSpPr>
          <p:nvPr/>
        </p:nvSpPr>
        <p:spPr>
          <a:xfrm>
            <a:off x="92588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/>
              <a:t>Fourier Transform Pairs II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3C370A-9864-FF44-9AF5-964AD07ACFB7}"/>
              </a:ext>
            </a:extLst>
          </p:cNvPr>
          <p:cNvGrpSpPr/>
          <p:nvPr/>
        </p:nvGrpSpPr>
        <p:grpSpPr>
          <a:xfrm>
            <a:off x="2192818" y="1168673"/>
            <a:ext cx="7981019" cy="5382439"/>
            <a:chOff x="2192818" y="1168673"/>
            <a:chExt cx="7981019" cy="5382439"/>
          </a:xfrm>
        </p:grpSpPr>
        <p:pic>
          <p:nvPicPr>
            <p:cNvPr id="40964" name="Picture 6" descr="C:\Users\Joel\Documents\Teaching\McGraw Hill\Fundamentals of Electric Circuits 5e\figures\CH18\Tables\ale80571_t18_02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512"/>
            <a:stretch>
              <a:fillRect/>
            </a:stretch>
          </p:blipFill>
          <p:spPr bwMode="auto">
            <a:xfrm>
              <a:off x="2347865" y="1694417"/>
              <a:ext cx="7825972" cy="4856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C50D53-EB32-F24B-8A7C-31B03766D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b="90547"/>
            <a:stretch/>
          </p:blipFill>
          <p:spPr>
            <a:xfrm>
              <a:off x="2192818" y="1168673"/>
              <a:ext cx="7677692" cy="509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43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43117" y="155575"/>
            <a:ext cx="6562057" cy="22110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8367" y="2305089"/>
            <a:ext cx="6453123" cy="441638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38367" y="2323943"/>
            <a:ext cx="6453123" cy="522954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2838366" y="5020116"/>
            <a:ext cx="6453123" cy="607686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2838366" y="5931226"/>
            <a:ext cx="6453123" cy="526135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2838365" y="2864690"/>
            <a:ext cx="6453123" cy="165628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83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E0B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22981</TotalTime>
  <Words>569</Words>
  <Application>Microsoft Macintosh PowerPoint</Application>
  <PresentationFormat>宽屏</PresentationFormat>
  <Paragraphs>57</Paragraphs>
  <Slides>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黑体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ECE 2001 Basic Circuit Theory</vt:lpstr>
      <vt:lpstr>Fourier transform pair: </vt:lpstr>
      <vt:lpstr>Conditions on F(ω)</vt:lpstr>
      <vt:lpstr>Fourier vs. Laplace</vt:lpstr>
      <vt:lpstr>Fourier vs. Laplace II</vt:lpstr>
      <vt:lpstr>Fourier vs. Laplace III</vt:lpstr>
      <vt:lpstr>Fourier Transform Pairs I</vt:lpstr>
      <vt:lpstr>PowerPoint 演示文稿</vt:lpstr>
      <vt:lpstr>PowerPoint 演示文稿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1278</cp:revision>
  <cp:lastPrinted>2017-11-23T00:01:01Z</cp:lastPrinted>
  <dcterms:created xsi:type="dcterms:W3CDTF">2015-01-13T03:48:29Z</dcterms:created>
  <dcterms:modified xsi:type="dcterms:W3CDTF">2024-12-05T10:47:02Z</dcterms:modified>
</cp:coreProperties>
</file>